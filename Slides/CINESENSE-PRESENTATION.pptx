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4" r:id="rId26"/>
    <p:sldId id="295" r:id="rId27"/>
    <p:sldId id="280" r:id="rId28"/>
    <p:sldId id="281" r:id="rId29"/>
    <p:sldId id="282" r:id="rId30"/>
    <p:sldId id="296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72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0292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2194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CineSense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" y="2999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Movie Recommendation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749040" y="502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49040" y="822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  ·  Sprint 3  ·  Final Presentation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234440"/>
            <a:ext cx="5029200" cy="22860"/>
          </a:xfrm>
          <a:prstGeom prst="rect">
            <a:avLst/>
          </a:prstGeom>
          <a:solidFill>
            <a:srgbClr val="2B4560"/>
          </a:solidFill>
          <a:ln w="12700">
            <a:solidFill>
              <a:srgbClr val="2B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7490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749040" y="1691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Haris Fayyaz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1691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23L-0767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904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Moeez Ijaz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0" y="20756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23L-0750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24597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Faiqa Waseem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24597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23L-0633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49040" y="2944368"/>
            <a:ext cx="5029200" cy="22860"/>
          </a:xfrm>
          <a:prstGeom prst="rect">
            <a:avLst/>
          </a:prstGeom>
          <a:solidFill>
            <a:srgbClr val="2B4560"/>
          </a:solidFill>
          <a:ln w="12700">
            <a:solidFill>
              <a:srgbClr val="2B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490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5780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BCS-6C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4904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57800" y="3401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Ma'am Ansa Liaqat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49040" y="3739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57800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CineSense?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120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8C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CineSense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AI-powered web application that delivers personalized movie recommendations using a Hybrid Machine Learning engine (Content-Based Filtering + Collaborative Filtering).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the MovieLens dataset, rate movies, build watchlists, and receive ranked suggestions tailored to their taste.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429000"/>
            <a:ext cx="1554480" cy="3108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85416" y="3429000"/>
            <a:ext cx="1554480" cy="3108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85416" y="3429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67912" y="3429000"/>
            <a:ext cx="1554480" cy="3108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67912" y="3429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840480"/>
            <a:ext cx="1554480" cy="3108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85416" y="3840480"/>
            <a:ext cx="1554480" cy="31089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85416" y="3840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1005840"/>
            <a:ext cx="3246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0" y="1005840"/>
            <a:ext cx="502920" cy="1078992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24144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14447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· Login · Profile · Password Reset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15000" y="2212848"/>
            <a:ext cx="3246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15000" y="2212848"/>
            <a:ext cx="502920" cy="107899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24144" y="2304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Movie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Details · Rating · Dashboard · Watchlist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3419856"/>
            <a:ext cx="32461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15000" y="3419856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24144" y="3511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5112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Engine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Recs · CBF Similar · Feedback Loop · BVA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Constraints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Advantages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90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746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CBF + CF for better accuracy than single-method engines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2037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459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trending movies for new users with &lt; 3 ratings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4378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843784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916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Loop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172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thumbs-up/down continuously re-ranks future recommendations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886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auth, storage, and Firestore — no server infrastructure to manage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27024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6400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4343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599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historical rating data enables meaningful ML from day one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960120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960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Constraints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1417320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73752" y="149047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73752" y="17465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CineSense recommends movies only — no video playback or streaming integration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130552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2130552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22037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Only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3752" y="24597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limited to movies; TV shows, music, and podcasts excluded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84378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2843784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73752" y="2916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Dependency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73752" y="31729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reliance on Firebase for auth and data; outages affect the whole system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557016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3557016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3752" y="3630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Freshness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73752" y="3886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dataset is static; new movie releases are not automatically included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4270248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09160" y="4270248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73752" y="4343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Latency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73752" y="4599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ML computation can take up to 3 seconds for users with many ratings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 · NFR-02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NFR-01  ·  Performance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data operations must complete within defined time thresholds.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&amp; Login (Firebase Auth): complete within 3 seconds under normal network conditions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profile reads: complete within 2 seconds on page load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endpoint (POST /recommend): return results within 3 seconds from cache; first computation within 8 seconds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performance score for dashboard: ≥ 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462272"/>
            <a:ext cx="42062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4622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Users abandon slow apps. These thresholds ensure CineSense remains responsive during the two most critical interactions — authentication and recommendation delivery.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4206240" cy="5029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NFR-02  ·  Security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data and API access must be protected through layered security mechanisms.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450592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managed exclusively via Firebase Authentication — never stored in plaintext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must restrict each collection to its owning user (uid-scoped reads/writes)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backend API routes that modify data (ratings, watchlist, dashboard, feedback) must require a valid Firebase ID token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users must not access any protected route — enforced both client-side (React Router guards) and server-side (auth middleware)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4462272"/>
            <a:ext cx="4206240" cy="47548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44622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CineSense stores personal rating history and preferences. Weak security could expose sensitive user behaviour data and allow unauthorised modifications to recommendations.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diagram types covering the full CineSense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24128" y="1481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N-Tier + Client-Server hybrid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325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Diagram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58768" y="1481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&amp; socket (lollipop) UML notation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005840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35040" y="1005840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325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115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 Level 0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93408" y="148132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— 4 external entities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2219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65760" y="2221992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54203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3317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 Level 1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24128" y="269748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system processes + 4 Firestore stores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00400" y="22219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200400" y="2221992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2542032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58768" y="23317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DFD Level 2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858768" y="269748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Recommendation engine exploded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221992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35040" y="2221992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2542032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233172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Diagrams (3)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93408" y="269748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· Rating trigger · Dashboard load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65760" y="3438144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65760" y="3438144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3758184"/>
            <a:ext cx="411480" cy="4114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24128" y="3547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024128" y="39136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actors · &lt;&lt;include&gt;&gt; &amp; &lt;&lt;extend&gt;&gt;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200400" y="3438144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3200400" y="3438144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6704" y="3758184"/>
            <a:ext cx="411480" cy="411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58768" y="3547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Diagrams (3)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858768" y="39136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Rate movie · Recommendations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035040" y="3438144"/>
            <a:ext cx="2743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6035040" y="3438144"/>
            <a:ext cx="54864" cy="11430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344" y="3758184"/>
            <a:ext cx="411480" cy="4114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693408" y="354787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Diagram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693408" y="39136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classes with full UML relationships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Architecture Diagram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Layered N-Tier + Client-Server hybrid  ·  Figure 1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Component Diagram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Ball &amp; socket (lollipop) UML notation  ·  Figure 2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DFD Level 0 — Context Diagram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4 external entities: User, Firebase, ML Microservice, MovieLens  ·  Figure 3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DFD Level 1 — System Processes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6 processes: Auth, Profile, Search, Rating, Recommendations, Watchlist  ·  Figure 4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DFD Level 2 — Recommendation Engine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P5 exploded: Fetch Ratings → CBF → CF → Score Aggregation → Top-N  ·  Figure 5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Activity Diagram — User Registration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Signup flow with Firebase Auth  ·  Figure 6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0D1B2A"/>
                </a:solidFill>
                <a:latin typeface="Trebuchet MS" pitchFamily="34" charset="0"/>
              </a:rPr>
              <a:t>Activity Diagram — Movie Rating &amp; Recommendation Trigger</a:t>
            </a:r>
            <a:endParaRPr lang="en-US" sz="215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Swimlane: User → Backend → ML Microservice  ·  Figure 7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5163"/>
            <a:ext cx="8595360" cy="40040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Activity Diagram — View Personalized Recommendations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Dashboard load with cache-first strategy  ·  Figure 8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Use Case Diagram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4 actors · &lt;&lt;include&gt;&gt; &amp; &lt;&lt;extend&gt;&gt; relationships  ·  Figure 9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Sequence Diagram — User Login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Firebase Auth flow with session persistence  ·  Figure 10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2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Sequence Diagram — Rate a Movie &amp; Recommendation Update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Rating write → ML trigger → cache update  ·  Figure 11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3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Sequence Diagram — Dashboard Load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Cache-first recommendation retrieval  ·  Figure 12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4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Class Diagram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8 classes with full UML relationships  ·  Figure 13 of 13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(N-Tier) + Client-Server hybrid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74920" cy="84124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9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SPA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46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 · React Router · React Context · Lazy loading · Responsive design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075688"/>
            <a:ext cx="274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5074920" cy="841248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LOGIC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79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· Request validation · Firestore orchestration · ML trigger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3008376"/>
            <a:ext cx="274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099816"/>
            <a:ext cx="5074920" cy="841248"/>
          </a:xfrm>
          <a:prstGeom prst="rect">
            <a:avLst/>
          </a:prstGeom>
          <a:solidFill>
            <a:srgbClr val="0A5470"/>
          </a:solidFill>
          <a:ln w="12700">
            <a:solidFill>
              <a:srgbClr val="0A54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/ AI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4015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Microservice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(CBF) · Collaborative Filtering (CF) · POST /recommend · Cold-start fallback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3941064"/>
            <a:ext cx="27432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032504"/>
            <a:ext cx="5074920" cy="841248"/>
          </a:xfrm>
          <a:prstGeom prst="rect">
            <a:avLst/>
          </a:prstGeom>
          <a:solidFill>
            <a:srgbClr val="073B52"/>
          </a:solidFill>
          <a:ln w="12700">
            <a:solidFill>
              <a:srgbClr val="073B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342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BaaS + MovieLens Dataset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5445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· Firestore (users, movies, ratings, watchlist, dashboard, feedback, recommendations) · Firebase 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234440"/>
            <a:ext cx="3291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1298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Styles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06440" y="1664208"/>
            <a:ext cx="54864" cy="5486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61888" y="168249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(N-Tier)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61888" y="19202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communicates with the one directly below — enforces strict separation of concerns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06440" y="2414016"/>
            <a:ext cx="54864" cy="5486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61888" y="243230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61888" y="26700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communicates with Node.js backend exclusively via REST APIs over HTTPS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200400"/>
            <a:ext cx="3291840" cy="1691640"/>
          </a:xfrm>
          <a:prstGeom prst="rect">
            <a:avLst/>
          </a:prstGeom>
          <a:solidFill>
            <a:srgbClr val="1E3344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0644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EB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06440" y="3566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style allows the ML microservice to be developed, tested, and scaled independently from the React frontend.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Client-Server style defines clean API boundaries, enabling horizontal scaling and easier debugging across all three sprints.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Screenshots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&amp; Sprint 2 — Authentication &amp; Core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005840"/>
            <a:ext cx="457200" cy="274320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65960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Page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3042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· Firestore profile write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005840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10058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87368" y="1005840"/>
            <a:ext cx="457200" cy="274320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87368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20574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3042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 · Forgot Password link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08576" y="1005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08576" y="1005840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08576" y="10058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08776" y="1005840"/>
            <a:ext cx="457200" cy="274320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08776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20574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81728" y="23042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View/Edit name · Profile pic · Reset password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9984" y="1005840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9984" y="1005840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9984" y="1005840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330184" y="1005840"/>
            <a:ext cx="45720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30184" y="1005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03136" y="205740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Search &amp; Filters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03136" y="2304288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· Year · Rating filters on Firestore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2670048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2670048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670048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65960" y="2670048"/>
            <a:ext cx="45720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965960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37216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 Page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39684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· Overview · Rate · Add to Watchlist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487168" y="2670048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487168" y="2670048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487168" y="2670048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87368" y="2670048"/>
            <a:ext cx="45720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087368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37216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0" y="39684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curated movie collection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08576" y="2670048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08576" y="2670048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08576" y="2670048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08776" y="2670048"/>
            <a:ext cx="45720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08776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81728" y="37216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Page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81728" y="39684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Remove · Sort movies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29984" y="2670048"/>
            <a:ext cx="2057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729984" y="2670048"/>
            <a:ext cx="2057400" cy="1024128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29984" y="2670048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]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330184" y="2670048"/>
            <a:ext cx="45720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30184" y="26700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03136" y="372160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Center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803136" y="39684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Thumbs-up/down stored for ML re-ranking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pic>
        <p:nvPicPr>
          <p:cNvPr id="201" name="img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2057400" cy="1554480"/>
          </a:xfrm>
          <a:prstGeom prst="rect">
            <a:avLst/>
          </a:prstGeom>
        </p:spPr>
      </p:pic>
      <p:pic>
        <p:nvPicPr>
          <p:cNvPr id="202" name="img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005840"/>
            <a:ext cx="2057400" cy="1554480"/>
          </a:xfrm>
          <a:prstGeom prst="rect">
            <a:avLst/>
          </a:prstGeom>
        </p:spPr>
      </p:pic>
      <p:pic>
        <p:nvPicPr>
          <p:cNvPr id="203" name="img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1005840"/>
            <a:ext cx="2057400" cy="1554480"/>
          </a:xfrm>
          <a:prstGeom prst="rect">
            <a:avLst/>
          </a:prstGeom>
        </p:spPr>
      </p:pic>
      <p:pic>
        <p:nvPicPr>
          <p:cNvPr id="204" name="img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1005840"/>
            <a:ext cx="2057400" cy="1554480"/>
          </a:xfrm>
          <a:prstGeom prst="rect">
            <a:avLst/>
          </a:prstGeom>
        </p:spPr>
      </p:pic>
      <p:pic>
        <p:nvPicPr>
          <p:cNvPr id="205" name="img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670048"/>
            <a:ext cx="2057400" cy="1554480"/>
          </a:xfrm>
          <a:prstGeom prst="rect">
            <a:avLst/>
          </a:prstGeom>
        </p:spPr>
      </p:pic>
      <p:pic>
        <p:nvPicPr>
          <p:cNvPr id="206" name="img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168" y="2670048"/>
            <a:ext cx="2057400" cy="1554480"/>
          </a:xfrm>
          <a:prstGeom prst="rect">
            <a:avLst/>
          </a:prstGeom>
        </p:spPr>
      </p:pic>
      <p:pic>
        <p:nvPicPr>
          <p:cNvPr id="207" name="img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2670048"/>
            <a:ext cx="2057400" cy="1554480"/>
          </a:xfrm>
          <a:prstGeom prst="rect">
            <a:avLst/>
          </a:prstGeom>
        </p:spPr>
      </p:pic>
      <p:pic>
        <p:nvPicPr>
          <p:cNvPr id="208" name="img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9984" y="2670048"/>
            <a:ext cx="20574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— AI/ML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The core deliverable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2377440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Recommended For You — AI Dashboard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10058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36758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(US-14)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CBF + CF engine · Top-N ranked · Firestore cache · Cold-start fallback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2377440"/>
          </a:xfrm>
          <a:prstGeom prst="rect">
            <a:avLst/>
          </a:prstGeom>
          <a:solidFill>
            <a:srgbClr val="1E3344"/>
          </a:solidFill>
          <a:ln w="12700">
            <a:solidFill>
              <a:srgbClr val="1E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1005840"/>
            <a:ext cx="4160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Similar Movies — Content-Based 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383280"/>
            <a:ext cx="10058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36758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Movies via CBF (US-10)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391363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on genre &amp; keywords · Min 5 results · 2s load target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pic>
        <p:nvPicPr>
          <p:cNvPr id="301" name="ai_re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4160520" cy="2377440"/>
          </a:xfrm>
          <a:prstGeom prst="rect">
            <a:avLst/>
          </a:prstGeom>
        </p:spPr>
      </p:pic>
      <p:pic>
        <p:nvPicPr>
          <p:cNvPr id="302" name="similar_mov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05840"/>
            <a:ext cx="4160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Signup / Registration Page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1 · US-01  ·  Firebase Auth + Firestore profile write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Login Page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1 · US-02  ·  Persistent session + Forgot Password link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Password Reset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1 · US-05  ·  Email-based reset via Firebase Auth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947CB-6218-B2B0-2E75-84D9853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A475746-1A8F-9B2F-3E8B-DD6163750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683"/>
            <a:ext cx="9144000" cy="32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69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F82E6-8ED7-6AAE-724A-CAEAF18A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8DA8A8-8374-F94C-8B93-96595B208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720"/>
            <a:ext cx="9144000" cy="340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67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User Profile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1 · US-04  ·  View/Edit name · Profile pic · Reset password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A89A6E-936B-E364-B9F0-71B006567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17" y="914400"/>
            <a:ext cx="6054765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Home Dashboard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US-09  ·  Personalized movie collection view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263F6-4036-8386-4C7B-C28A4FEAB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976" y="914400"/>
            <a:ext cx="2588048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Movie Search &amp; Filtering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US-06  ·  Genre · Year · Rating filters on Firestore</a:t>
            </a:r>
            <a:endParaRPr lang="en-US" sz="1400" dirty="0"/>
          </a:p>
        </p:txBody>
      </p:sp>
      <p:pic>
        <p:nvPicPr>
          <p:cNvPr id="5" name="diagram">
            <a:extLst>
              <a:ext uri="{FF2B5EF4-FFF2-40B4-BE49-F238E27FC236}">
                <a16:creationId xmlns:a16="http://schemas.microsoft.com/office/drawing/2014/main" id="{9D7CDB93-C553-7E6B-D1F9-17636AC2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3EEE5-638A-FC7D-CC26-5DCBA46C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23E9B61-A6F6-FBB4-5424-21E2E83086AC}"/>
              </a:ext>
            </a:extLst>
          </p:cNvPr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Movie Search &amp; Filtering</a:t>
            </a:r>
            <a:endParaRPr lang="en-US" sz="2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EC62F09-BA9C-C328-4BA0-2AC416732901}"/>
              </a:ext>
            </a:extLst>
          </p:cNvPr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US-06  ·  Genre · Year · Rating filters on Firestore</a:t>
            </a:r>
            <a:endParaRPr lang="en-US" sz="1400" dirty="0"/>
          </a:p>
        </p:txBody>
      </p:sp>
      <p:pic>
        <p:nvPicPr>
          <p:cNvPr id="4" name="diagram">
            <a:extLst>
              <a:ext uri="{FF2B5EF4-FFF2-40B4-BE49-F238E27FC236}">
                <a16:creationId xmlns:a16="http://schemas.microsoft.com/office/drawing/2014/main" id="{0F8D0A06-79D1-DF8D-F698-85B4A43F9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397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Movie Details Page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US-07  ·  Cast · Overview · Rate · Add to Watchlist</a:t>
            </a:r>
            <a:endParaRPr lang="en-US" sz="1400" dirty="0"/>
          </a:p>
        </p:txBody>
      </p:sp>
      <p:pic>
        <p:nvPicPr>
          <p:cNvPr id="9" name="diagram">
            <a:extLst>
              <a:ext uri="{FF2B5EF4-FFF2-40B4-BE49-F238E27FC236}">
                <a16:creationId xmlns:a16="http://schemas.microsoft.com/office/drawing/2014/main" id="{376722F9-3B43-FCDE-B7E4-73D8F5DCA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Rate a Movie Widget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US-08  ·  1–5 star rating · writes to Firestore ratings</a:t>
            </a:r>
            <a:endParaRPr lang="en-US" sz="1400" dirty="0"/>
          </a:p>
        </p:txBody>
      </p:sp>
      <p:pic>
        <p:nvPicPr>
          <p:cNvPr id="5" name="diagram">
            <a:extLst>
              <a:ext uri="{FF2B5EF4-FFF2-40B4-BE49-F238E27FC236}">
                <a16:creationId xmlns:a16="http://schemas.microsoft.com/office/drawing/2014/main" id="{544902A5-5B74-15AA-C6C7-D31BB410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Personalized Dashboard (Manual)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US-09  ·  Manually curated movie collection</a:t>
            </a:r>
            <a:endParaRPr lang="en-US" sz="1400" dirty="0"/>
          </a:p>
        </p:txBody>
      </p:sp>
      <p:pic>
        <p:nvPicPr>
          <p:cNvPr id="5" name="diagram">
            <a:extLst>
              <a:ext uri="{FF2B5EF4-FFF2-40B4-BE49-F238E27FC236}">
                <a16:creationId xmlns:a16="http://schemas.microsoft.com/office/drawing/2014/main" id="{0BE5476B-3E97-EE60-3BAC-97F612BB8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Trending Movies Section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US-11  ·  Top 10 by avg rating · horizontal scroll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FCE5B4-9162-854C-AACD-4B1C6EA61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352"/>
            <a:ext cx="9144000" cy="31307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Watchlist Page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US-12  ·  Add · Remove · Sort movies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75F79-6682-D96E-7628-23A6688FD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15" y="914400"/>
            <a:ext cx="509537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Feedback System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2 · US-15  ·  Thumbs-up/down stored for ML re-ranking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62E3E-1895-8DA8-951C-F5A432D74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658" y="914400"/>
            <a:ext cx="5380684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AI Recommendations — Recommended For You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3 · US-14  ·  Hybrid CBF + CF · Top-N ranked · Firestore cache · Cold-start fallback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.xml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</a:rPr>
              <a:t>Similar Movies via Content-Based Filtering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0" dirty="0">
                <a:solidFill>
                  <a:srgbClr val="4A90A4"/>
                </a:solidFill>
                <a:latin typeface="Trebuchet MS" pitchFamily="34" charset="0"/>
              </a:rPr>
              <a:t>Sprint 3 · US-10  ·  TF-IDF cosine similarity on genre &amp; keywords · Min 5 results</a:t>
            </a:r>
            <a:endParaRPr lang="en-US" sz="1400" dirty="0"/>
          </a:p>
        </p:txBody>
      </p:sp>
      <p:pic>
        <p:nvPicPr>
          <p:cNvPr id="4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Division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responsibilities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834640" cy="64008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 Haris Fayyaz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23L-0767 · Backend &amp; ML Engineer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26151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 (Python/Flask) — hybrid CBF + CF engine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Filtering: TF-IDF cosine similarity (US-10)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Filtering: matrix factorization (US-14)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/recommend endpoint — Top-N ranked movie 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Feedback-to-ML re-ranking loop (US-13)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fallback &amp; Firestore cache TTL management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integration testing &amp; BVA documentation (US-17)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834640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9875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Faiqa Waseem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23L-0633 · Frontend Developer &amp; Documentation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1682496"/>
            <a:ext cx="26151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'Recommended For You' section on Dashboard (US-14)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Movies section on Movie Details Page (US-10)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for all movie posters (US-16)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polish — visual consistency across all pages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/ infinite scroll on Search page (US-16)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user stories, BVA write-up &amp; final report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6208" y="960120"/>
            <a:ext cx="2834640" cy="640080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45936" y="987552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Moeez Ijaz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1298448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23L-0750 · Backend API &amp; Project Coordination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45936" y="1682496"/>
            <a:ext cx="261518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route — proxy recommendations from Flask to frontend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cache reads/writes with TTL check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/recommendations/:uid — cache-first endpoint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 full user journey signup → recommendations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Trello Sprint 3 board management &amp; sprint coordination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review, final merge &amp; submission coordination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· Process · Team Collaboration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834640" cy="54864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033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151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data pipelines take longer than features — allocate dedicated sprint time before development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security rules must be designed with the data model on Day 1, not retrofitted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problem needs a defined fallback strategy from the start — not Sprint 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separation (Flask ML from Node.js) was the right call — enabled parallel work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needs memoization discipline to prevent re-renders on the dashboard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8346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0" y="1033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1600200"/>
            <a:ext cx="26151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documentation saves rework — US-09 scope change in Sprint 2 was handled cleanly because user stories were structured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Trello card moves keep burndown charts honest and reflect true progress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 20–30% integration overhead — Sprint 1 US-05 leftover proved this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daily check-ins surface blockers before they become blockers (ML CORS issue caught early)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6208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36208" y="960120"/>
            <a:ext cx="2834640" cy="548640"/>
          </a:xfrm>
          <a:prstGeom prst="rect">
            <a:avLst/>
          </a:prstGeom>
          <a:solidFill>
            <a:srgbClr val="126B80"/>
          </a:solidFill>
          <a:ln w="12700">
            <a:solidFill>
              <a:srgbClr val="126B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84848" y="1033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Collaboration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1600200"/>
            <a:ext cx="26151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 separation (frontend / backend / ML) reduces conflicts — but needs API contracts agreed before coding begins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+ PRs by Sprint 3 eliminated the merge conflicts seen in Sprint 1's direct-to-main pushes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rule: raise a blocker to the group after 30 minutes rather than continuing solo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47472" cy="347472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005840"/>
            <a:ext cx="347472" cy="347472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005840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59436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2286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CineSense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" y="2999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4F0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931920" y="1280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93192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31920" y="2542032"/>
            <a:ext cx="4937760" cy="22860"/>
          </a:xfrm>
          <a:prstGeom prst="rect">
            <a:avLst/>
          </a:prstGeom>
          <a:solidFill>
            <a:srgbClr val="2B4560"/>
          </a:solidFill>
          <a:ln w="12700">
            <a:solidFill>
              <a:srgbClr val="2B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1920" y="274320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C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931920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66360" y="274320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C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166360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74320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C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0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Est.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35240" y="274320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8C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635240" y="336499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31920" y="3749040"/>
            <a:ext cx="4937760" cy="22860"/>
          </a:xfrm>
          <a:prstGeom prst="rect">
            <a:avLst/>
          </a:prstGeom>
          <a:solidFill>
            <a:srgbClr val="2B4560"/>
          </a:solidFill>
          <a:ln w="12700">
            <a:solidFill>
              <a:srgbClr val="2B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31920" y="3858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Haris Fayyaz  ·  Moeez Ijaz  ·  Faiqa Waseem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931920" y="41330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BCS-6C  ·  Software Engineering  ·  FAST-NUCES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1922</Words>
  <Application>Microsoft Office PowerPoint</Application>
  <PresentationFormat>On-screen Show (16:9)</PresentationFormat>
  <Paragraphs>305</Paragraphs>
  <Slides>41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Haris Fayyaz</cp:lastModifiedBy>
  <cp:revision>2</cp:revision>
  <dcterms:created xsi:type="dcterms:W3CDTF">2026-05-03T13:42:49Z</dcterms:created>
  <dcterms:modified xsi:type="dcterms:W3CDTF">2026-05-03T18:53:36Z</dcterms:modified>
</cp:coreProperties>
</file>